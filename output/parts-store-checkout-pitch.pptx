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30816f443d4f2c" /><Relationship Type="http://schemas.openxmlformats.org/officeDocument/2006/relationships/extended-properties" Target="/docProps/app.xml" Id="Rffd8348fab1c497a" /><Relationship Type="http://schemas.openxmlformats.org/officeDocument/2006/relationships/officeDocument" Target="/ppt/presentation.xml" Id="R2f9cb2b019ef418d" /></Relationships>
</file>

<file path=ppt/presentation.xml><?xml version="1.0" encoding="utf-8"?>
<p:presentation xmlns:p="http://schemas.openxmlformats.org/presentationml/2006/main">
  <p:sldMasterIdLst>
    <p:sldMasterId xmlns:r="http://schemas.openxmlformats.org/officeDocument/2006/relationships" id="2147483648" r:id="R1605dd9d8d3043db"/>
  </p:sldMasterIdLst>
  <p:notesMasterIdLst>
    <p:notesMasterId xmlns:r="http://schemas.openxmlformats.org/officeDocument/2006/relationships" r:id="Rd762394afc8f4559"/>
  </p:notesMasterIdLst>
  <p:sldIdLst>
    <p:sldId xmlns:r="http://schemas.openxmlformats.org/officeDocument/2006/relationships" id="256" r:id="R28056e3aed934b46"/>
    <p:sldId xmlns:r="http://schemas.openxmlformats.org/officeDocument/2006/relationships" id="257" r:id="Reb4fff9a314840c1"/>
    <p:sldId xmlns:r="http://schemas.openxmlformats.org/officeDocument/2006/relationships" id="258" r:id="R5f3a087873314bd4"/>
    <p:sldId xmlns:r="http://schemas.openxmlformats.org/officeDocument/2006/relationships" id="259" r:id="Rf9c636a7aeb64c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0dde47f0424b39" /><Relationship Type="http://schemas.openxmlformats.org/officeDocument/2006/relationships/slideMaster" Target="/ppt/slideMasters/slideMaster1.xml" Id="R1605dd9d8d3043db" /><Relationship Type="http://schemas.openxmlformats.org/officeDocument/2006/relationships/notesMaster" Target="/ppt/notesMasters/notesMaster1.xml" Id="Rd762394afc8f4559" /><Relationship Type="http://schemas.openxmlformats.org/officeDocument/2006/relationships/presProps" Target="/ppt/presProps.xml" Id="R3a7d2f19c1c04279" /><Relationship Type="http://schemas.openxmlformats.org/officeDocument/2006/relationships/tableStyles" Target="/ppt/tableStyles.xml" Id="Ra8637751385f4bdf" /><Relationship Type="http://schemas.openxmlformats.org/officeDocument/2006/relationships/slide" Target="/ppt/slides/slide1.xml" Id="R28056e3aed934b46" /><Relationship Type="http://schemas.openxmlformats.org/officeDocument/2006/relationships/slide" Target="/ppt/slides/slide2.xml" Id="Reb4fff9a314840c1" /><Relationship Type="http://schemas.openxmlformats.org/officeDocument/2006/relationships/slide" Target="/ppt/slides/slide3.xml" Id="R5f3a087873314bd4" /><Relationship Type="http://schemas.openxmlformats.org/officeDocument/2006/relationships/slide" Target="/ppt/slides/slide4.xml" Id="Rf9c636a7aeb64c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1ffc6c9bb940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3b31e275174cfa" /><Relationship Type="http://schemas.openxmlformats.org/officeDocument/2006/relationships/notesMaster" Target="/ppt/notesMasters/notesMaster1.xml" Id="Rc3ca0e9dd98a47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d78fb2424846da" /><Relationship Type="http://schemas.openxmlformats.org/officeDocument/2006/relationships/notesMaster" Target="/ppt/notesMasters/notesMaster1.xml" Id="R9766213f1e8d47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26513cee6340ee" /><Relationship Type="http://schemas.openxmlformats.org/officeDocument/2006/relationships/notesMaster" Target="/ppt/notesMasters/notesMaster1.xml" Id="R34adbf8bd90f4d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2e3b9154f54beb" /><Relationship Type="http://schemas.openxmlformats.org/officeDocument/2006/relationships/notesMaster" Target="/ppt/notesMasters/notesMaster1.xml" Id="R3580cb39ec2b4e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Start with the experience of someone grabbing a part during a busy build. The existing search and form checkout takes enough time that members may skip it. This creates gaps in the inventory record. Source for the problem framing: user-provided project brief, 2026-10-05. Cover photo is AI-generated and illustrative, not a photo of the actual store. Pitch structure informed by Stanford GSB Think Fast, Talk Smart: https://www.gsb.stanford.edu/insights/how-think-faster-talk-smarter-masterclass-matt-abrahams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Demonstrate the two outcomes together: less effort for the member and an updated location record for the store. The Telegram Mini App supports QR scanning, a cart, destination selection, and checklist returns. Sources: docs/tele-qr/HOW_TOs/features.md; docs/tele-qr/flows.md; src/app/store/page.tsx. Image is AI-generated and illustrative, not an actual app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Be explicit about readiness. The software implementation is finished, but no manual recount, review, or QR labeling has been done, so the system is not usable yet. The 16 high-priority expensive-item questions are the immediate review set. Source: user-provided project status, 2026-10-05. Repository context: docs/tele-qr/checkpoint.md and docs/data-cleaning.md.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The request is to start the physical preparation, beginning with the most valuable parts. Resolve their questions, count what is actually present, then attach QR labels and test the live flow before expanding. Source: user-provided rollout plan, 2026-10-05. Call-to-action framing informed by Stanford GSB Think Fast, Talk Smart: https://www.gsb.stanford.edu/insights/lean-messaging-how-simple-messages-really-stick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23d601b70f47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294b236f424193" /><Relationship Type="http://schemas.openxmlformats.org/officeDocument/2006/relationships/slideLayout" Target="/ppt/slideLayouts/slideLayout1.xml" Id="R9185d654778a48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85d654778a48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b7c0b9160a42a4" /><Relationship Type="http://schemas.openxmlformats.org/officeDocument/2006/relationships/image" Target="/ppt/media/image.png" Id="R94b0b7469c064d25" /><Relationship Type="http://schemas.openxmlformats.org/officeDocument/2006/relationships/notesSlide" Target="/ppt/notesSlides/notesSlide1.xml" Id="R63c994578da541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3cc72e3912472c" /><Relationship Type="http://schemas.openxmlformats.org/officeDocument/2006/relationships/image" Target="/ppt/media/image2.png" Id="R7afb462efa474a13" /><Relationship Type="http://schemas.openxmlformats.org/officeDocument/2006/relationships/notesSlide" Target="/ppt/notesSlides/notesSlide2.xml" Id="Rcb273eeb51ac4d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67432876554d5f" /><Relationship Type="http://schemas.openxmlformats.org/officeDocument/2006/relationships/notesSlide" Target="/ppt/notesSlides/notesSlide3.xml" Id="Rde0257eec36946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ab77f441cb4d7d" /><Relationship Type="http://schemas.openxmlformats.org/officeDocument/2006/relationships/notesSlide" Target="/ppt/notesSlides/notesSlide4.xml" Id="R996f4b90e8d3430e" /></Relationships>
</file>

<file path=ppt/slides/slide1.xml><?xml version="1.0" encoding="utf-8"?>
<p:sld xmlns:p="http://schemas.openxmlformats.org/presentationml/2006/main">
  <p:cSld>
    <p:bg>
      <p:bgPr>
        <a:solidFill xmlns:a="http://schemas.openxmlformats.org/drawingml/2006/main">
          <a:srgbClr val="0D2331"/>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4b0b7469c064d2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E02DCA5-3DC7-44BE-BAC7-1D1EF1F1421B}"/>
              </a:ext>
            </a:extLst>
          </p:cNvPr>
          <p:cNvSpPr>
            <a:spLocks xmlns:a="http://schemas.openxmlformats.org/drawingml/2006/main" noGrp="1"/>
          </p:cNvSpPr>
          <p:nvPr/>
        </p:nvSpPr>
        <p:spPr>
          <a:xfrm xmlns:a="http://schemas.openxmlformats.org/drawingml/2006/main">
            <a:off x="685800" y="72390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1350" b="1">
                <a:solidFill>
                  <a:srgbClr val="F5A53D"/>
                </a:solidFill>
                <a:latin typeface="Arial"/>
                <a:ea typeface="Arial"/>
                <a:cs typeface="Arial"/>
              </a:defRPr>
            </a:pPr>
            <a:r>
              <a:rPr sz="1350" b="1">
                <a:solidFill>
                  <a:srgbClr val="F5A53D"/>
                </a:solidFill>
                <a:latin typeface="Arial"/>
                <a:ea typeface="Arial"/>
                <a:cs typeface="Arial"/>
              </a:rPr>
              <a:t>NUS ROBOMASTER PARTS STORE</a:t>
            </a:r>
          </a:p>
        </p:txBody>
      </p:sp>
      <p:sp>
        <p:nvSpPr>
          <p:cNvPr id="3" name="">
            <a:extLst xmlns:a="http://schemas.openxmlformats.org/drawingml/2006/main">
              <a:ext uri="{FF2B5EF4-FFF2-40B4-BE49-F238E27FC236}">
                <a16:creationId xmlns:a16="http://schemas.microsoft.com/office/drawing/2014/main" id="{D8F6AEC1-6BCF-48BC-B6ED-A7A8F6FC4314}"/>
              </a:ext>
            </a:extLst>
          </p:cNvPr>
          <p:cNvSpPr>
            <a:spLocks xmlns:a="http://schemas.openxmlformats.org/drawingml/2006/main" noGrp="1"/>
          </p:cNvSpPr>
          <p:nvPr/>
        </p:nvSpPr>
        <p:spPr>
          <a:xfrm xmlns:a="http://schemas.openxmlformats.org/drawingml/2006/main">
            <a:off x="685800" y="1552575"/>
            <a:ext cx="5905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99000"/>
              </a:lnSpc>
              <a:buNone/>
              <a:defRPr sz="3975" b="1">
                <a:solidFill>
                  <a:srgbClr val="FFFFFF"/>
                </a:solidFill>
                <a:latin typeface="Arial"/>
                <a:ea typeface="Arial"/>
                <a:cs typeface="Arial"/>
              </a:defRPr>
            </a:pPr>
            <a:r>
              <a:rPr sz="3975" b="1">
                <a:solidFill>
                  <a:srgbClr val="FFFFFF"/>
                </a:solidFill>
                <a:latin typeface="Arial"/>
                <a:ea typeface="Arial"/>
                <a:cs typeface="Arial"/>
              </a:rPr>
              <a:t>Slow checkout makes</a:t>
            </a:r>
          </a:p>
          <a:p xmlns:a="http://schemas.openxmlformats.org/drawingml/2006/main">
            <a:pPr>
              <a:lnSpc>
                <a:spcPct val="99000"/>
              </a:lnSpc>
              <a:buNone/>
              <a:defRPr sz="3975" b="1">
                <a:solidFill>
                  <a:srgbClr val="FFFFFF"/>
                </a:solidFill>
                <a:latin typeface="Arial"/>
                <a:ea typeface="Arial"/>
                <a:cs typeface="Arial"/>
              </a:defRPr>
            </a:pPr>
            <a:r>
              <a:rPr sz="3975" b="1">
                <a:solidFill>
                  <a:srgbClr val="FFFFFF"/>
                </a:solidFill>
                <a:latin typeface="Arial"/>
                <a:ea typeface="Arial"/>
                <a:cs typeface="Arial"/>
              </a:rPr>
              <a:t>stock harder to track</a:t>
            </a:r>
          </a:p>
        </p:txBody>
      </p:sp>
      <p:sp>
        <p:nvSpPr>
          <p:cNvPr id="4" name="">
            <a:extLst xmlns:a="http://schemas.openxmlformats.org/drawingml/2006/main">
              <a:ext uri="{FF2B5EF4-FFF2-40B4-BE49-F238E27FC236}">
                <a16:creationId xmlns:a16="http://schemas.microsoft.com/office/drawing/2014/main" id="{B283CA1E-B586-4AF4-A4AF-ED657E1D08A6}"/>
              </a:ext>
            </a:extLst>
          </p:cNvPr>
          <p:cNvSpPr>
            <a:spLocks xmlns:a="http://schemas.openxmlformats.org/drawingml/2006/main" noGrp="1"/>
          </p:cNvSpPr>
          <p:nvPr/>
        </p:nvSpPr>
        <p:spPr>
          <a:xfrm xmlns:a="http://schemas.openxmlformats.org/drawingml/2006/main">
            <a:off x="685800" y="3943350"/>
            <a:ext cx="5334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00" b="0">
                <a:solidFill>
                  <a:srgbClr val="FFFFFF"/>
                </a:solidFill>
                <a:latin typeface="Arial"/>
                <a:ea typeface="Arial"/>
                <a:cs typeface="Arial"/>
              </a:defRPr>
            </a:pPr>
            <a:r>
              <a:rPr sz="1800" b="0">
                <a:solidFill>
                  <a:srgbClr val="FFFFFF"/>
                </a:solidFill>
                <a:latin typeface="Arial"/>
                <a:ea typeface="Arial"/>
                <a:cs typeface="Arial"/>
              </a:rPr>
              <a:t>Search bars and forms take time at the shelf. Some members skip checkout, leaving a large catalog harder to manage.</a:t>
            </a:r>
          </a:p>
        </p:txBody>
      </p:sp>
      <p:sp>
        <p:nvSpPr>
          <p:cNvPr id="5" name="">
            <a:extLst xmlns:a="http://schemas.openxmlformats.org/drawingml/2006/main">
              <a:ext uri="{FF2B5EF4-FFF2-40B4-BE49-F238E27FC236}">
                <a16:creationId xmlns:a16="http://schemas.microsoft.com/office/drawing/2014/main" id="{970052A0-F837-450D-9461-E1FDAF55D362}"/>
              </a:ext>
            </a:extLst>
          </p:cNvPr>
          <p:cNvSpPr>
            <a:spLocks xmlns:a="http://schemas.openxmlformats.org/drawingml/2006/main" noGrp="1"/>
          </p:cNvSpPr>
          <p:nvPr/>
        </p:nvSpPr>
        <p:spPr>
          <a:xfrm xmlns:a="http://schemas.openxmlformats.org/drawingml/2006/main">
            <a:off x="685800" y="61531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1200" b="1">
                <a:solidFill>
                  <a:srgbClr val="DEE5E9"/>
                </a:solidFill>
                <a:latin typeface="Arial"/>
                <a:ea typeface="Arial"/>
                <a:cs typeface="Arial"/>
              </a:defRPr>
            </a:pPr>
            <a:r>
              <a:rPr sz="1200" b="1">
                <a:solidFill>
                  <a:srgbClr val="DEE5E9"/>
                </a:solidFill>
                <a:latin typeface="Arial"/>
                <a:ea typeface="Arial"/>
                <a:cs typeface="Arial"/>
              </a:rPr>
              <a:t>PARTS STORE CHECKOUT</a:t>
            </a:r>
          </a:p>
        </p:txBody>
      </p:sp>
    </p:spTree>
    <p:extLst>
      <p:ext uri="{BB962C8B-B14F-4D97-AF65-F5344CB8AC3E}">
        <p14:creationId xmlns:p14="http://schemas.microsoft.com/office/powerpoint/2010/main" val="1389190525"/>
      </p:ext>
    </p:extLst>
  </p:cSld>
</p:sld>
</file>

<file path=ppt/slides/slide2.xml><?xml version="1.0" encoding="utf-8"?>
<p:sld xmlns:p="http://schemas.openxmlformats.org/presentationml/2006/main">
  <p:cSld>
    <p:bg>
      <p:bgPr>
        <a:solidFill xmlns:a="http://schemas.openxmlformats.org/drawingml/2006/main">
          <a:srgbClr val="0D2331"/>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afb462efa474a1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8913FE-25AD-4158-A817-4555B467D281}"/>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0D233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E2EE711-AB6E-4CDD-B19C-1A67A33539B2}"/>
              </a:ext>
            </a:extLst>
          </p:cNvPr>
          <p:cNvSpPr>
            <a:spLocks xmlns:a="http://schemas.openxmlformats.org/drawingml/2006/main" noGrp="1"/>
          </p:cNvSpPr>
          <p:nvPr/>
        </p:nvSpPr>
        <p:spPr>
          <a:xfrm xmlns:a="http://schemas.openxmlformats.org/drawingml/2006/main">
            <a:off x="685800" y="638175"/>
            <a:ext cx="481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1350" b="1">
                <a:solidFill>
                  <a:srgbClr val="F5A53D"/>
                </a:solidFill>
                <a:latin typeface="Arial"/>
                <a:ea typeface="Arial"/>
                <a:cs typeface="Arial"/>
              </a:defRPr>
            </a:pPr>
            <a:r>
              <a:rPr sz="1350" b="1">
                <a:solidFill>
                  <a:srgbClr val="F5A53D"/>
                </a:solidFill>
                <a:latin typeface="Arial"/>
                <a:ea typeface="Arial"/>
                <a:cs typeface="Arial"/>
              </a:rPr>
              <a:t>THE SOLUTION</a:t>
            </a:r>
          </a:p>
        </p:txBody>
      </p:sp>
      <p:sp>
        <p:nvSpPr>
          <p:cNvPr id="4" name="">
            <a:extLst xmlns:a="http://schemas.openxmlformats.org/drawingml/2006/main">
              <a:ext uri="{FF2B5EF4-FFF2-40B4-BE49-F238E27FC236}">
                <a16:creationId xmlns:a16="http://schemas.microsoft.com/office/drawing/2014/main" id="{72F805F5-66CA-497B-B056-3B279D052731}"/>
              </a:ext>
            </a:extLst>
          </p:cNvPr>
          <p:cNvSpPr>
            <a:spLocks xmlns:a="http://schemas.openxmlformats.org/drawingml/2006/main" noGrp="1"/>
          </p:cNvSpPr>
          <p:nvPr/>
        </p:nvSpPr>
        <p:spPr>
          <a:xfrm xmlns:a="http://schemas.openxmlformats.org/drawingml/2006/main">
            <a:off x="685800" y="1323975"/>
            <a:ext cx="49530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98000"/>
              </a:lnSpc>
              <a:buNone/>
              <a:defRPr sz="3900" b="1">
                <a:solidFill>
                  <a:srgbClr val="FFFFFF"/>
                </a:solidFill>
                <a:latin typeface="Arial"/>
                <a:ea typeface="Arial"/>
                <a:cs typeface="Arial"/>
              </a:defRPr>
            </a:pPr>
            <a:r>
              <a:rPr sz="3900" b="1">
                <a:solidFill>
                  <a:srgbClr val="FFFFFF"/>
                </a:solidFill>
                <a:latin typeface="Arial"/>
                <a:ea typeface="Arial"/>
                <a:cs typeface="Arial"/>
              </a:rPr>
              <a:t>Scan at the shelf.</a:t>
            </a:r>
          </a:p>
          <a:p xmlns:a="http://schemas.openxmlformats.org/drawingml/2006/main">
            <a:pPr>
              <a:lnSpc>
                <a:spcPct val="98000"/>
              </a:lnSpc>
              <a:buNone/>
              <a:defRPr sz="3900" b="1">
                <a:solidFill>
                  <a:srgbClr val="FFFFFF"/>
                </a:solidFill>
                <a:latin typeface="Arial"/>
                <a:ea typeface="Arial"/>
                <a:cs typeface="Arial"/>
              </a:defRPr>
            </a:pPr>
            <a:r>
              <a:rPr sz="3900" b="1">
                <a:solidFill>
                  <a:srgbClr val="FFFFFF"/>
                </a:solidFill>
                <a:latin typeface="Arial"/>
                <a:ea typeface="Arial"/>
                <a:cs typeface="Arial"/>
              </a:rPr>
              <a:t>Keep moving.</a:t>
            </a:r>
          </a:p>
        </p:txBody>
      </p:sp>
      <p:sp>
        <p:nvSpPr>
          <p:cNvPr id="5" name="">
            <a:extLst xmlns:a="http://schemas.openxmlformats.org/drawingml/2006/main">
              <a:ext uri="{FF2B5EF4-FFF2-40B4-BE49-F238E27FC236}">
                <a16:creationId xmlns:a16="http://schemas.microsoft.com/office/drawing/2014/main" id="{52F5E9BC-1ADF-4420-9356-67DDA035C05E}"/>
              </a:ext>
            </a:extLst>
          </p:cNvPr>
          <p:cNvSpPr>
            <a:spLocks xmlns:a="http://schemas.openxmlformats.org/drawingml/2006/main" noGrp="1"/>
          </p:cNvSpPr>
          <p:nvPr/>
        </p:nvSpPr>
        <p:spPr>
          <a:xfrm xmlns:a="http://schemas.openxmlformats.org/drawingml/2006/main">
            <a:off x="685800" y="3152775"/>
            <a:ext cx="4914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875" b="0">
                <a:solidFill>
                  <a:srgbClr val="FFFFFF"/>
                </a:solidFill>
                <a:latin typeface="Arial"/>
                <a:ea typeface="Arial"/>
                <a:cs typeface="Arial"/>
              </a:defRPr>
            </a:pPr>
            <a:r>
              <a:rPr sz="1875" b="0">
                <a:solidFill>
                  <a:srgbClr val="FFFFFF"/>
                </a:solidFill>
                <a:latin typeface="Arial"/>
                <a:ea typeface="Arial"/>
                <a:cs typeface="Arial"/>
              </a:rPr>
              <a:t>Scan a bin QR, add parts in Telegram, choose where they go, and finish checkout.</a:t>
            </a:r>
          </a:p>
        </p:txBody>
      </p:sp>
      <p:sp>
        <p:nvSpPr>
          <p:cNvPr id="6" name="">
            <a:extLst xmlns:a="http://schemas.openxmlformats.org/drawingml/2006/main">
              <a:ext uri="{FF2B5EF4-FFF2-40B4-BE49-F238E27FC236}">
                <a16:creationId xmlns:a16="http://schemas.microsoft.com/office/drawing/2014/main" id="{82F1912E-4846-430D-99FF-D82460C7FA9F}"/>
              </a:ext>
            </a:extLst>
          </p:cNvPr>
          <p:cNvSpPr>
            <a:spLocks xmlns:a="http://schemas.openxmlformats.org/drawingml/2006/main" noGrp="1"/>
          </p:cNvSpPr>
          <p:nvPr/>
        </p:nvSpPr>
        <p:spPr>
          <a:xfrm xmlns:a="http://schemas.openxmlformats.org/drawingml/2006/main">
            <a:off x="685800" y="481965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725" b="0">
                <a:solidFill>
                  <a:srgbClr val="C8D7DF"/>
                </a:solidFill>
                <a:latin typeface="Arial"/>
                <a:ea typeface="Arial"/>
                <a:cs typeface="Arial"/>
              </a:defRPr>
            </a:pPr>
            <a:r>
              <a:rPr sz="1725" b="0">
                <a:solidFill>
                  <a:srgbClr val="C8D7DF"/>
                </a:solidFill>
                <a:latin typeface="Arial"/>
                <a:ea typeface="Arial"/>
                <a:cs typeface="Arial"/>
              </a:rPr>
              <a:t>The inventory record updates as parts move between the store, robots and members.</a:t>
            </a:r>
          </a:p>
        </p:txBody>
      </p:sp>
      <p:sp>
        <p:nvSpPr>
          <p:cNvPr id="7" name="">
            <a:extLst xmlns:a="http://schemas.openxmlformats.org/drawingml/2006/main">
              <a:ext uri="{FF2B5EF4-FFF2-40B4-BE49-F238E27FC236}">
                <a16:creationId xmlns:a16="http://schemas.microsoft.com/office/drawing/2014/main" id="{F6AE56ED-B564-48F9-A32E-35BD1D1A9487}"/>
              </a:ext>
            </a:extLst>
          </p:cNvPr>
          <p:cNvSpPr>
            <a:spLocks xmlns:a="http://schemas.openxmlformats.org/drawingml/2006/main" noGrp="1"/>
          </p:cNvSpPr>
          <p:nvPr/>
        </p:nvSpPr>
        <p:spPr>
          <a:xfrm xmlns:a="http://schemas.openxmlformats.org/drawingml/2006/main">
            <a:off x="685800" y="6143625"/>
            <a:ext cx="481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1425" b="1">
                <a:solidFill>
                  <a:srgbClr val="F5A53D"/>
                </a:solidFill>
                <a:latin typeface="Arial"/>
                <a:ea typeface="Arial"/>
                <a:cs typeface="Arial"/>
              </a:defRPr>
            </a:pPr>
            <a:r>
              <a:rPr sz="1425" b="1">
                <a:solidFill>
                  <a:srgbClr val="F5A53D"/>
                </a:solidFill>
                <a:latin typeface="Arial"/>
                <a:ea typeface="Arial"/>
                <a:cs typeface="Arial"/>
              </a:rPr>
              <a:t>Returns use a holdings checklist.</a:t>
            </a:r>
          </a:p>
        </p:txBody>
      </p:sp>
    </p:spTree>
    <p:extLst>
      <p:ext uri="{BB962C8B-B14F-4D97-AF65-F5344CB8AC3E}">
        <p14:creationId xmlns:p14="http://schemas.microsoft.com/office/powerpoint/2010/main" val="1194790448"/>
      </p:ext>
    </p:extLst>
  </p:cSld>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C7E3CD-8B2E-4CE1-B1C1-F38329AFDAC3}"/>
              </a:ext>
            </a:extLst>
          </p:cNvPr>
          <p:cNvSpPr>
            <a:spLocks xmlns:a="http://schemas.openxmlformats.org/drawingml/2006/main" noGrp="1"/>
          </p:cNvSpPr>
          <p:nvPr/>
        </p:nvSpPr>
        <p:spPr>
          <a:xfrm xmlns:a="http://schemas.openxmlformats.org/drawingml/2006/main">
            <a:off x="666750" y="6000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00" b="1">
                <a:solidFill>
                  <a:srgbClr val="102B3B"/>
                </a:solidFill>
                <a:latin typeface="Arial"/>
                <a:ea typeface="Arial"/>
                <a:cs typeface="Arial"/>
              </a:defRPr>
            </a:pPr>
            <a:r>
              <a:rPr sz="3300" b="1">
                <a:solidFill>
                  <a:srgbClr val="102B3B"/>
                </a:solidFill>
                <a:latin typeface="Arial"/>
                <a:ea typeface="Arial"/>
                <a:cs typeface="Arial"/>
              </a:rPr>
              <a:t>Software complete. Manual rollout pending.</a:t>
            </a:r>
          </a:p>
        </p:txBody>
      </p:sp>
      <p:sp>
        <p:nvSpPr>
          <p:cNvPr id="2" name="">
            <a:extLst xmlns:a="http://schemas.openxmlformats.org/drawingml/2006/main">
              <a:ext uri="{FF2B5EF4-FFF2-40B4-BE49-F238E27FC236}">
                <a16:creationId xmlns:a16="http://schemas.microsoft.com/office/drawing/2014/main" id="{A2649DC1-30CD-4351-98F8-4F47198BFDCF}"/>
              </a:ext>
            </a:extLst>
          </p:cNvPr>
          <p:cNvSpPr>
            <a:spLocks xmlns:a="http://schemas.openxmlformats.org/drawingml/2006/main" noGrp="1"/>
          </p:cNvSpPr>
          <p:nvPr/>
        </p:nvSpPr>
        <p:spPr>
          <a:xfrm xmlns:a="http://schemas.openxmlformats.org/drawingml/2006/main">
            <a:off x="666750" y="1876425"/>
            <a:ext cx="3143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8700" b="1">
                <a:solidFill>
                  <a:srgbClr val="F5A53D"/>
                </a:solidFill>
                <a:latin typeface="Arial"/>
                <a:ea typeface="Arial"/>
                <a:cs typeface="Arial"/>
              </a:defRPr>
            </a:pPr>
            <a:r>
              <a:rPr sz="8700" b="1">
                <a:solidFill>
                  <a:srgbClr val="F5A53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7EC3373B-3390-4B44-8FE3-C256F026D524}"/>
              </a:ext>
            </a:extLst>
          </p:cNvPr>
          <p:cNvSpPr>
            <a:spLocks xmlns:a="http://schemas.openxmlformats.org/drawingml/2006/main" noGrp="1"/>
          </p:cNvSpPr>
          <p:nvPr/>
        </p:nvSpPr>
        <p:spPr>
          <a:xfrm xmlns:a="http://schemas.openxmlformats.org/drawingml/2006/main">
            <a:off x="3762375" y="2124075"/>
            <a:ext cx="7334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6000"/>
              </a:lnSpc>
              <a:buNone/>
              <a:defRPr sz="2325" b="1">
                <a:solidFill>
                  <a:srgbClr val="102B3B"/>
                </a:solidFill>
                <a:latin typeface="Arial"/>
                <a:ea typeface="Arial"/>
                <a:cs typeface="Arial"/>
              </a:defRPr>
            </a:pPr>
            <a:r>
              <a:rPr sz="2325" b="1">
                <a:solidFill>
                  <a:srgbClr val="102B3B"/>
                </a:solidFill>
                <a:latin typeface="Arial"/>
                <a:ea typeface="Arial"/>
                <a:cs typeface="Arial"/>
              </a:rPr>
              <a:t>high-priority questions about expensive items must be resolved first</a:t>
            </a:r>
          </a:p>
        </p:txBody>
      </p:sp>
      <p:sp>
        <p:nvSpPr>
          <p:cNvPr id="4" name="">
            <a:extLst xmlns:a="http://schemas.openxmlformats.org/drawingml/2006/main">
              <a:ext uri="{FF2B5EF4-FFF2-40B4-BE49-F238E27FC236}">
                <a16:creationId xmlns:a16="http://schemas.microsoft.com/office/drawing/2014/main" id="{B34593CE-F8EC-451B-A266-ACD2F74FE328}"/>
              </a:ext>
            </a:extLst>
          </p:cNvPr>
          <p:cNvSpPr>
            <a:spLocks xmlns:a="http://schemas.openxmlformats.org/drawingml/2006/main" noGrp="1"/>
          </p:cNvSpPr>
          <p:nvPr/>
        </p:nvSpPr>
        <p:spPr>
          <a:xfrm xmlns:a="http://schemas.openxmlformats.org/drawingml/2006/main">
            <a:off x="666750" y="4114800"/>
            <a:ext cx="1057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2175" b="0">
                <a:solidFill>
                  <a:srgbClr val="102B3B"/>
                </a:solidFill>
                <a:latin typeface="Arial"/>
                <a:ea typeface="Arial"/>
                <a:cs typeface="Arial"/>
              </a:defRPr>
            </a:pPr>
            <a:r>
              <a:rPr sz="2175" b="0">
                <a:solidFill>
                  <a:srgbClr val="102B3B"/>
                </a:solidFill>
                <a:latin typeface="Arial"/>
                <a:ea typeface="Arial"/>
                <a:cs typeface="Arial"/>
              </a:rPr>
              <a:t>No recount, review or QR label placement has been completed yet.</a:t>
            </a:r>
          </a:p>
        </p:txBody>
      </p:sp>
      <p:sp>
        <p:nvSpPr>
          <p:cNvPr id="5" name="">
            <a:extLst xmlns:a="http://schemas.openxmlformats.org/drawingml/2006/main">
              <a:ext uri="{FF2B5EF4-FFF2-40B4-BE49-F238E27FC236}">
                <a16:creationId xmlns:a16="http://schemas.microsoft.com/office/drawing/2014/main" id="{50070815-654D-49EA-BC65-3565528A8B07}"/>
              </a:ext>
            </a:extLst>
          </p:cNvPr>
          <p:cNvSpPr>
            <a:spLocks xmlns:a="http://schemas.openxmlformats.org/drawingml/2006/main" noGrp="1"/>
          </p:cNvSpPr>
          <p:nvPr/>
        </p:nvSpPr>
        <p:spPr>
          <a:xfrm xmlns:a="http://schemas.openxmlformats.org/drawingml/2006/main">
            <a:off x="666750" y="5114925"/>
            <a:ext cx="1057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1800" b="0">
                <a:solidFill>
                  <a:srgbClr val="526373"/>
                </a:solidFill>
                <a:latin typeface="Arial"/>
                <a:ea typeface="Arial"/>
                <a:cs typeface="Arial"/>
              </a:defRPr>
            </a:pPr>
            <a:r>
              <a:rPr sz="1800" b="0">
                <a:solidFill>
                  <a:srgbClr val="526373"/>
                </a:solidFill>
                <a:latin typeface="Arial"/>
                <a:ea typeface="Arial"/>
                <a:cs typeface="Arial"/>
              </a:rPr>
              <a:t>Members cannot use the checkout system until that hands-on work is done.</a:t>
            </a:r>
          </a:p>
        </p:txBody>
      </p:sp>
      <p:sp>
        <p:nvSpPr>
          <p:cNvPr id="6" name="">
            <a:extLst xmlns:a="http://schemas.openxmlformats.org/drawingml/2006/main">
              <a:ext uri="{FF2B5EF4-FFF2-40B4-BE49-F238E27FC236}">
                <a16:creationId xmlns:a16="http://schemas.microsoft.com/office/drawing/2014/main" id="{AD5444A6-413A-4872-BEA7-C4ED98A37301}"/>
              </a:ext>
            </a:extLst>
          </p:cNvPr>
          <p:cNvSpPr>
            <a:spLocks xmlns:a="http://schemas.openxmlformats.org/drawingml/2006/main" noGrp="1"/>
          </p:cNvSpPr>
          <p:nvPr/>
        </p:nvSpPr>
        <p:spPr>
          <a:xfrm xmlns:a="http://schemas.openxmlformats.org/drawingml/2006/main">
            <a:off x="666750" y="61912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1200" b="1">
                <a:solidFill>
                  <a:srgbClr val="6D7B83"/>
                </a:solidFill>
                <a:latin typeface="Arial"/>
                <a:ea typeface="Arial"/>
                <a:cs typeface="Arial"/>
              </a:defRPr>
            </a:pPr>
            <a:r>
              <a:rPr sz="1200" b="1">
                <a:solidFill>
                  <a:srgbClr val="6D7B83"/>
                </a:solidFill>
                <a:latin typeface="Arial"/>
                <a:ea typeface="Arial"/>
                <a:cs typeface="Arial"/>
              </a:rPr>
              <a:t>CURRENT STATUS  ·  OCTOBER 2026</a:t>
            </a:r>
          </a:p>
        </p:txBody>
      </p:sp>
    </p:spTree>
    <p:extLst>
      <p:ext uri="{BB962C8B-B14F-4D97-AF65-F5344CB8AC3E}">
        <p14:creationId xmlns:p14="http://schemas.microsoft.com/office/powerpoint/2010/main" val="1637407976"/>
      </p:ext>
    </p:extLst>
  </p:cSld>
</p:sld>
</file>

<file path=ppt/slides/slide4.xml><?xml version="1.0" encoding="utf-8"?>
<p:sld xmlns:p="http://schemas.openxmlformats.org/presentationml/2006/main">
  <p:cSld>
    <p:bg>
      <p:bgPr>
        <a:solidFill xmlns:a="http://schemas.openxmlformats.org/drawingml/2006/main">
          <a:srgbClr val="0D233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54B488-4F59-433C-9C84-EEA28249A243}"/>
              </a:ext>
            </a:extLst>
          </p:cNvPr>
          <p:cNvSpPr>
            <a:spLocks xmlns:a="http://schemas.openxmlformats.org/drawingml/2006/main" noGrp="1"/>
          </p:cNvSpPr>
          <p:nvPr/>
        </p:nvSpPr>
        <p:spPr>
          <a:xfrm xmlns:a="http://schemas.openxmlformats.org/drawingml/2006/main">
            <a:off x="666750" y="5810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3375" b="1">
                <a:solidFill>
                  <a:srgbClr val="FFFFFF"/>
                </a:solidFill>
                <a:latin typeface="Arial"/>
                <a:ea typeface="Arial"/>
                <a:cs typeface="Arial"/>
              </a:defRPr>
            </a:pPr>
            <a:r>
              <a:rPr sz="3375" b="1">
                <a:solidFill>
                  <a:srgbClr val="FFFFFF"/>
                </a:solidFill>
                <a:latin typeface="Arial"/>
                <a:ea typeface="Arial"/>
                <a:cs typeface="Arial"/>
              </a:rPr>
              <a:t>Launch expensive items first</a:t>
            </a:r>
          </a:p>
        </p:txBody>
      </p:sp>
      <p:sp>
        <p:nvSpPr>
          <p:cNvPr id="2" name="">
            <a:extLst xmlns:a="http://schemas.openxmlformats.org/drawingml/2006/main">
              <a:ext uri="{FF2B5EF4-FFF2-40B4-BE49-F238E27FC236}">
                <a16:creationId xmlns:a16="http://schemas.microsoft.com/office/drawing/2014/main" id="{4CF80C59-9DFD-4BBF-8B5B-D8D96E568CD3}"/>
              </a:ext>
            </a:extLst>
          </p:cNvPr>
          <p:cNvSpPr>
            <a:spLocks xmlns:a="http://schemas.openxmlformats.org/drawingml/2006/main" noGrp="1"/>
          </p:cNvSpPr>
          <p:nvPr/>
        </p:nvSpPr>
        <p:spPr>
          <a:xfrm xmlns:a="http://schemas.openxmlformats.org/drawingml/2006/main">
            <a:off x="666750" y="18954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4650" b="1">
                <a:solidFill>
                  <a:srgbClr val="F5A53D"/>
                </a:solidFill>
                <a:latin typeface="Arial"/>
                <a:ea typeface="Arial"/>
                <a:cs typeface="Arial"/>
              </a:defRPr>
            </a:pPr>
            <a:r>
              <a:rPr sz="4650" b="1">
                <a:solidFill>
                  <a:srgbClr val="F5A53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1574D995-9F9D-4E26-8177-5437067B1077}"/>
              </a:ext>
            </a:extLst>
          </p:cNvPr>
          <p:cNvSpPr>
            <a:spLocks xmlns:a="http://schemas.openxmlformats.org/drawingml/2006/main" noGrp="1"/>
          </p:cNvSpPr>
          <p:nvPr/>
        </p:nvSpPr>
        <p:spPr>
          <a:xfrm xmlns:a="http://schemas.openxmlformats.org/drawingml/2006/main">
            <a:off x="1771650" y="1933575"/>
            <a:ext cx="952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2325" b="1">
                <a:solidFill>
                  <a:srgbClr val="FFFFFF"/>
                </a:solidFill>
                <a:latin typeface="Arial"/>
                <a:ea typeface="Arial"/>
                <a:cs typeface="Arial"/>
              </a:defRPr>
            </a:pPr>
            <a:r>
              <a:rPr sz="2325" b="1">
                <a:solidFill>
                  <a:srgbClr val="FFFFFF"/>
                </a:solidFill>
                <a:latin typeface="Arial"/>
                <a:ea typeface="Arial"/>
                <a:cs typeface="Arial"/>
              </a:rPr>
              <a:t>Review the 16 questions and recount expensive stock</a:t>
            </a:r>
          </a:p>
        </p:txBody>
      </p:sp>
      <p:sp>
        <p:nvSpPr>
          <p:cNvPr id="4" name="">
            <a:extLst xmlns:a="http://schemas.openxmlformats.org/drawingml/2006/main">
              <a:ext uri="{FF2B5EF4-FFF2-40B4-BE49-F238E27FC236}">
                <a16:creationId xmlns:a16="http://schemas.microsoft.com/office/drawing/2014/main" id="{2E5C13B6-6ABD-4F98-BDA2-4E15F28AC1E7}"/>
              </a:ext>
            </a:extLst>
          </p:cNvPr>
          <p:cNvSpPr>
            <a:spLocks xmlns:a="http://schemas.openxmlformats.org/drawingml/2006/main" noGrp="1"/>
          </p:cNvSpPr>
          <p:nvPr/>
        </p:nvSpPr>
        <p:spPr>
          <a:xfrm xmlns:a="http://schemas.openxmlformats.org/drawingml/2006/main">
            <a:off x="666750" y="31908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4650" b="1">
                <a:solidFill>
                  <a:srgbClr val="F5A53D"/>
                </a:solidFill>
                <a:latin typeface="Arial"/>
                <a:ea typeface="Arial"/>
                <a:cs typeface="Arial"/>
              </a:defRPr>
            </a:pPr>
            <a:r>
              <a:rPr sz="4650" b="1">
                <a:solidFill>
                  <a:srgbClr val="F5A53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33DF7F1-F844-45A7-A39E-8BE5E3EF6E48}"/>
              </a:ext>
            </a:extLst>
          </p:cNvPr>
          <p:cNvSpPr>
            <a:spLocks xmlns:a="http://schemas.openxmlformats.org/drawingml/2006/main" noGrp="1"/>
          </p:cNvSpPr>
          <p:nvPr/>
        </p:nvSpPr>
        <p:spPr>
          <a:xfrm xmlns:a="http://schemas.openxmlformats.org/drawingml/2006/main">
            <a:off x="1771650" y="3228975"/>
            <a:ext cx="952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2325" b="1">
                <a:solidFill>
                  <a:srgbClr val="FFFFFF"/>
                </a:solidFill>
                <a:latin typeface="Arial"/>
                <a:ea typeface="Arial"/>
                <a:cs typeface="Arial"/>
              </a:defRPr>
            </a:pPr>
            <a:r>
              <a:rPr sz="2325" b="1">
                <a:solidFill>
                  <a:srgbClr val="FFFFFF"/>
                </a:solidFill>
                <a:latin typeface="Arial"/>
                <a:ea typeface="Arial"/>
                <a:cs typeface="Arial"/>
              </a:rPr>
              <a:t>Attach QR labels and test checkout on those items</a:t>
            </a:r>
          </a:p>
        </p:txBody>
      </p:sp>
      <p:sp>
        <p:nvSpPr>
          <p:cNvPr id="6" name="">
            <a:extLst xmlns:a="http://schemas.openxmlformats.org/drawingml/2006/main">
              <a:ext uri="{FF2B5EF4-FFF2-40B4-BE49-F238E27FC236}">
                <a16:creationId xmlns:a16="http://schemas.microsoft.com/office/drawing/2014/main" id="{7218CB81-C40D-42F9-875D-FDEC6941AB4D}"/>
              </a:ext>
            </a:extLst>
          </p:cNvPr>
          <p:cNvSpPr>
            <a:spLocks xmlns:a="http://schemas.openxmlformats.org/drawingml/2006/main" noGrp="1"/>
          </p:cNvSpPr>
          <p:nvPr/>
        </p:nvSpPr>
        <p:spPr>
          <a:xfrm xmlns:a="http://schemas.openxmlformats.org/drawingml/2006/main">
            <a:off x="666750" y="4486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4650" b="1">
                <a:solidFill>
                  <a:srgbClr val="F5A53D"/>
                </a:solidFill>
                <a:latin typeface="Arial"/>
                <a:ea typeface="Arial"/>
                <a:cs typeface="Arial"/>
              </a:defRPr>
            </a:pPr>
            <a:r>
              <a:rPr sz="4650" b="1">
                <a:solidFill>
                  <a:srgbClr val="F5A53D"/>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CB71197-DF33-470B-AC07-15BC09E9905E}"/>
              </a:ext>
            </a:extLst>
          </p:cNvPr>
          <p:cNvSpPr>
            <a:spLocks xmlns:a="http://schemas.openxmlformats.org/drawingml/2006/main" noGrp="1"/>
          </p:cNvSpPr>
          <p:nvPr/>
        </p:nvSpPr>
        <p:spPr>
          <a:xfrm xmlns:a="http://schemas.openxmlformats.org/drawingml/2006/main">
            <a:off x="1771650" y="4524375"/>
            <a:ext cx="952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2325" b="1">
                <a:solidFill>
                  <a:srgbClr val="FFFFFF"/>
                </a:solidFill>
                <a:latin typeface="Arial"/>
                <a:ea typeface="Arial"/>
                <a:cs typeface="Arial"/>
              </a:defRPr>
            </a:pPr>
            <a:r>
              <a:rPr sz="2325" b="1">
                <a:solidFill>
                  <a:srgbClr val="FFFFFF"/>
                </a:solidFill>
                <a:latin typeface="Arial"/>
                <a:ea typeface="Arial"/>
                <a:cs typeface="Arial"/>
              </a:rPr>
              <a:t>Expand the QR rollout to the remaining catalog</a:t>
            </a:r>
          </a:p>
        </p:txBody>
      </p:sp>
      <p:sp>
        <p:nvSpPr>
          <p:cNvPr id="8" name="">
            <a:extLst xmlns:a="http://schemas.openxmlformats.org/drawingml/2006/main">
              <a:ext uri="{FF2B5EF4-FFF2-40B4-BE49-F238E27FC236}">
                <a16:creationId xmlns:a16="http://schemas.microsoft.com/office/drawing/2014/main" id="{FFCC395B-EAF3-45FE-9B76-56B49CC1CB2F}"/>
              </a:ext>
            </a:extLst>
          </p:cNvPr>
          <p:cNvSpPr>
            <a:spLocks xmlns:a="http://schemas.openxmlformats.org/drawingml/2006/main" noGrp="1"/>
          </p:cNvSpPr>
          <p:nvPr/>
        </p:nvSpPr>
        <p:spPr>
          <a:xfrm xmlns:a="http://schemas.openxmlformats.org/drawingml/2006/main">
            <a:off x="666750" y="60674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buNone/>
              <a:defRPr sz="1650" b="0">
                <a:solidFill>
                  <a:srgbClr val="C8D7DF"/>
                </a:solidFill>
                <a:latin typeface="Arial"/>
                <a:ea typeface="Arial"/>
                <a:cs typeface="Arial"/>
              </a:defRPr>
            </a:pPr>
            <a:r>
              <a:rPr sz="1650" b="0">
                <a:solidFill>
                  <a:srgbClr val="C8D7DF"/>
                </a:solidFill>
                <a:latin typeface="Arial"/>
                <a:ea typeface="Arial"/>
                <a:cs typeface="Arial"/>
              </a:rPr>
              <a:t>Next step: schedule the first store review and recount session.</a:t>
            </a:r>
          </a:p>
        </p:txBody>
      </p:sp>
    </p:spTree>
    <p:extLst>
      <p:ext uri="{BB962C8B-B14F-4D97-AF65-F5344CB8AC3E}">
        <p14:creationId xmlns:p14="http://schemas.microsoft.com/office/powerpoint/2010/main" val="13773342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2026-10-05T03:16:10.9350000Z</dcterms:created>
  <dcterms:modified xsi:type="dcterms:W3CDTF">2026-10-05T03:16:10.9350000Z</dcterms:modified>
</coreProperties>
</file>